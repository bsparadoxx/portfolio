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50B47-CDA7-45E0-BA91-863A8C5D9C90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777BE-0064-425F-98D0-38E3C2BC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5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52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97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36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07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89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96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94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5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36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05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4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56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777BE-0064-425F-98D0-38E3C2BC79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6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6BF9-A832-1C5C-9EAA-FDB562BF0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18CAC-8980-C46F-B74F-9CF5E3E37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4E8FC-B8A8-EAD5-848B-E22387CB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D0F1A-208C-153D-D5CC-EA539B35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C9A9F-03CC-2149-4A8A-23B49C4D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2401-0978-F1DA-38E9-51E659E8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C7AF7-74E2-1C3A-906E-BA63D9424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3398-9346-6A6C-2540-1AD19D88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7C4C2-D16E-E740-B5A2-161946C3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5916-12FE-BE94-AF07-D7F050B3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0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278C-2AB3-31BA-AF3B-9D19594D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F670A-D2DA-4DED-0195-ECED3B2B3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3F307-A6FA-1AAE-F97A-D508AA51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76C91-4D68-CFD8-4201-F4850F4A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A7283-DDDD-FF50-A0A0-513926F3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5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AB2C-E202-C6B6-49BD-E005BA82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ED894-378C-3FF5-49E5-010F03D5A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38EBC-58F9-18E8-3C33-B4C5F8B20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78952-10BA-3F19-1B44-D31B6A33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2EB48-F012-6241-B956-C9F800B9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A4324-B414-1F58-F01B-C508EC65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9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8D5B-CABA-1062-3F5C-B495350D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5E54E-38C3-59E7-0E89-EAFF98627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858FC-002F-0037-8C4E-027D454FB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214D5-C72F-AFB0-FAAE-8A9CD831D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E4659-F033-E252-83D7-65FEDDA18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58B58-7F61-0185-8CE6-04FB7344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3DA2DC-0A0A-E2C9-485E-0DC4A015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CFAFA-55E3-1866-3B0E-A64BF06D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F29A-B612-2B29-74F5-4812306E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CFBB4-CDDF-DD01-90C7-0AB2F5EB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01C40-526A-E98E-6D50-F7330F2F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D64B7-34ED-0563-E816-53135B29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6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B198D-DC09-AEB7-10D7-0424C7EF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558D5-0E76-5410-5859-AFC340C8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C7679-0055-8171-D6E1-C70926C4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DC1C-3FBD-7DA2-6A87-1434593B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6D44F-1E09-09BC-0278-A63EBE4ED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1459E-91E4-8850-4197-0108AA8B4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3F244-1A62-CAAB-33E9-D3176110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1840C-1C24-13E1-AF28-0E15A1F3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D0980-2962-DD72-2F6E-15E2F2FD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1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C060-C7E2-C266-6862-13872A35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301C8-D52C-29FA-0267-330471852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CB939-8DA5-7D1E-8CC7-D8D6A4DE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9FDC3-67EF-DFA7-B6B7-F4591650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D21F0-7FE3-05DB-423B-4A8BC1C9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1428-3392-5037-9D87-C5B255B0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2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238B-BFBE-9A1B-2919-71E3EE85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E380F-FF13-5C8C-7C20-5046F7987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48ADF-FDF4-C6EB-978B-13B7CFD9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FCB59-4848-1B0F-1011-B56440B6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225B2-2072-3A7F-CC41-C0809F1F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5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9A248-DEA0-1C82-2351-0744661CC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2BBB4-D8F2-CD6F-FCE9-761B97546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EB515-28C1-56C5-6980-0FCD70C8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99937-5EE4-B11B-DB0D-D2264B98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109B-F3D9-DFC7-C7D8-20EE3A0F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9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9D703-BD56-1CED-2E45-DA42333D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E017A-6219-4494-F912-C79BFFD76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BEC0B-C969-419C-8FC1-2F6A823BE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053D6-9487-497D-8F94-CDA03B6EEED1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1DEF5-9AB6-DC4F-FE84-C4319E8C9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0A4BE-95FF-4E7A-7E72-E8C720CA6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A7914-1ED1-4952-9FFA-7446C90E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8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DBMS-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20253"/>
            <a:ext cx="12192000" cy="489284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designed to store and query spatial data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-vector objects, raster objects, and networks.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spatial data we need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Relational DBMS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(ORDBMS).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ORDBMS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(ADTs)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(user defined data types) can be managed.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saved SDBMS need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query language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indexing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query optimization.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22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RDBMS is Inefficient for spatial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94" y="1620253"/>
            <a:ext cx="9833811" cy="4892841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E3F96-0A4F-7306-B22E-AF564F41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73"/>
          <a:stretch/>
        </p:blipFill>
        <p:spPr>
          <a:xfrm>
            <a:off x="0" y="1584503"/>
            <a:ext cx="5889241" cy="52734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B30D71-EA68-7009-7A29-6DC11FEF2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077535"/>
              </p:ext>
            </p:extLst>
          </p:nvPr>
        </p:nvGraphicFramePr>
        <p:xfrm>
          <a:off x="6340313" y="1506884"/>
          <a:ext cx="52947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694">
                  <a:extLst>
                    <a:ext uri="{9D8B030D-6E8A-4147-A177-3AD203B41FA5}">
                      <a16:colId xmlns:a16="http://schemas.microsoft.com/office/drawing/2014/main" val="1092258413"/>
                    </a:ext>
                  </a:extLst>
                </a:gridCol>
                <a:gridCol w="1323694">
                  <a:extLst>
                    <a:ext uri="{9D8B030D-6E8A-4147-A177-3AD203B41FA5}">
                      <a16:colId xmlns:a16="http://schemas.microsoft.com/office/drawing/2014/main" val="3198120127"/>
                    </a:ext>
                  </a:extLst>
                </a:gridCol>
                <a:gridCol w="1323694">
                  <a:extLst>
                    <a:ext uri="{9D8B030D-6E8A-4147-A177-3AD203B41FA5}">
                      <a16:colId xmlns:a16="http://schemas.microsoft.com/office/drawing/2014/main" val="3284377159"/>
                    </a:ext>
                  </a:extLst>
                </a:gridCol>
                <a:gridCol w="1323694">
                  <a:extLst>
                    <a:ext uri="{9D8B030D-6E8A-4147-A177-3AD203B41FA5}">
                      <a16:colId xmlns:a16="http://schemas.microsoft.com/office/drawing/2014/main" val="1897905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Polygon 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3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Area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22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Area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218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F6FDC4-869B-CB08-5952-F31DE4D45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253926"/>
              </p:ext>
            </p:extLst>
          </p:nvPr>
        </p:nvGraphicFramePr>
        <p:xfrm>
          <a:off x="6340014" y="3275337"/>
          <a:ext cx="16907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549">
                  <a:extLst>
                    <a:ext uri="{9D8B030D-6E8A-4147-A177-3AD203B41FA5}">
                      <a16:colId xmlns:a16="http://schemas.microsoft.com/office/drawing/2014/main" val="1092258413"/>
                    </a:ext>
                  </a:extLst>
                </a:gridCol>
                <a:gridCol w="753219">
                  <a:extLst>
                    <a:ext uri="{9D8B030D-6E8A-4147-A177-3AD203B41FA5}">
                      <a16:colId xmlns:a16="http://schemas.microsoft.com/office/drawing/2014/main" val="3198120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Polygon 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3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22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21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72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9750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B805D0-2EFB-3AFF-646E-8A84FB1DD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15293"/>
              </p:ext>
            </p:extLst>
          </p:nvPr>
        </p:nvGraphicFramePr>
        <p:xfrm>
          <a:off x="8268140" y="3269564"/>
          <a:ext cx="1797903" cy="256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268">
                  <a:extLst>
                    <a:ext uri="{9D8B030D-6E8A-4147-A177-3AD203B41FA5}">
                      <a16:colId xmlns:a16="http://schemas.microsoft.com/office/drawing/2014/main" val="1092258413"/>
                    </a:ext>
                  </a:extLst>
                </a:gridCol>
                <a:gridCol w="1043635">
                  <a:extLst>
                    <a:ext uri="{9D8B030D-6E8A-4147-A177-3AD203B41FA5}">
                      <a16:colId xmlns:a16="http://schemas.microsoft.com/office/drawing/2014/main" val="3198120127"/>
                    </a:ext>
                  </a:extLst>
                </a:gridCol>
              </a:tblGrid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EDGE 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END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36230"/>
                  </a:ext>
                </a:extLst>
              </a:tr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22723"/>
                  </a:ext>
                </a:extLst>
              </a:tr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21897"/>
                  </a:ext>
                </a:extLst>
              </a:tr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727562"/>
                  </a:ext>
                </a:extLst>
              </a:tr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975009"/>
                  </a:ext>
                </a:extLst>
              </a:tr>
              <a:tr h="3844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7390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208E020-3259-F72C-14CA-A4BD6CEB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41133"/>
              </p:ext>
            </p:extLst>
          </p:nvPr>
        </p:nvGraphicFramePr>
        <p:xfrm>
          <a:off x="10303401" y="3265564"/>
          <a:ext cx="170913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433">
                  <a:extLst>
                    <a:ext uri="{9D8B030D-6E8A-4147-A177-3AD203B41FA5}">
                      <a16:colId xmlns:a16="http://schemas.microsoft.com/office/drawing/2014/main" val="1092258413"/>
                    </a:ext>
                  </a:extLst>
                </a:gridCol>
                <a:gridCol w="474562">
                  <a:extLst>
                    <a:ext uri="{9D8B030D-6E8A-4147-A177-3AD203B41FA5}">
                      <a16:colId xmlns:a16="http://schemas.microsoft.com/office/drawing/2014/main" val="3198120127"/>
                    </a:ext>
                  </a:extLst>
                </a:gridCol>
                <a:gridCol w="486137">
                  <a:extLst>
                    <a:ext uri="{9D8B030D-6E8A-4147-A177-3AD203B41FA5}">
                      <a16:colId xmlns:a16="http://schemas.microsoft.com/office/drawing/2014/main" val="2792348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EDGE 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3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22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21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72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975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73903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6D2C656-7233-0629-97F2-F2A748B10A48}"/>
              </a:ext>
            </a:extLst>
          </p:cNvPr>
          <p:cNvSpPr txBox="1"/>
          <p:nvPr/>
        </p:nvSpPr>
        <p:spPr>
          <a:xfrm>
            <a:off x="6340014" y="1100413"/>
            <a:ext cx="1393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0C6EF-85D3-58BF-882E-DA6A689CA871}"/>
              </a:ext>
            </a:extLst>
          </p:cNvPr>
          <p:cNvSpPr txBox="1"/>
          <p:nvPr/>
        </p:nvSpPr>
        <p:spPr>
          <a:xfrm>
            <a:off x="6340014" y="2873805"/>
            <a:ext cx="1690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POLYGON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00A7C2-00CF-479D-B63F-F741EB62085F}"/>
              </a:ext>
            </a:extLst>
          </p:cNvPr>
          <p:cNvSpPr txBox="1"/>
          <p:nvPr/>
        </p:nvSpPr>
        <p:spPr>
          <a:xfrm>
            <a:off x="8268140" y="2873805"/>
            <a:ext cx="1393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52022-70D3-9613-4E66-6D9BA6D20FA3}"/>
              </a:ext>
            </a:extLst>
          </p:cNvPr>
          <p:cNvSpPr txBox="1"/>
          <p:nvPr/>
        </p:nvSpPr>
        <p:spPr>
          <a:xfrm>
            <a:off x="10299543" y="2866736"/>
            <a:ext cx="1393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321E6E-035A-0C03-92FD-5E0B141542E5}"/>
              </a:ext>
            </a:extLst>
          </p:cNvPr>
          <p:cNvSpPr txBox="1"/>
          <p:nvPr/>
        </p:nvSpPr>
        <p:spPr>
          <a:xfrm>
            <a:off x="6222470" y="5944395"/>
            <a:ext cx="5889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cannot defined any SRID. According to rectangular coordinate system the points are defined and SQL join operators are used for joining table &amp; design of cadastral system as shown in fig.</a:t>
            </a:r>
          </a:p>
        </p:txBody>
      </p:sp>
    </p:spTree>
    <p:extLst>
      <p:ext uri="{BB962C8B-B14F-4D97-AF65-F5344CB8AC3E}">
        <p14:creationId xmlns:p14="http://schemas.microsoft.com/office/powerpoint/2010/main" val="138156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SPATIAL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15887"/>
            <a:ext cx="12192000" cy="48928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Dual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before establishment of ORDBMS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file system is used for spatial data while RDBMS only manage attribute data.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Both system work together for the functioning of spatial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overcome inefficiency but cannot include required powerful database feature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 measurements. And used for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user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813E7-2108-F851-8C4C-888F40C08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30" y="5402289"/>
            <a:ext cx="7314351" cy="145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4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SPATIAL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69588"/>
            <a:ext cx="12192000" cy="48928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Establishment of ORDBMS dealing with ADTs, spatial data could be integrated with DBMS.</a:t>
            </a:r>
          </a:p>
          <a:p>
            <a:pPr algn="l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can be of point, line and polygon and support full functionality of DBMS 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ArcSDE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Oracle Spatial, Geo++,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8DD9C-3389-21C3-BF09-D915C6AC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69" y="4907666"/>
            <a:ext cx="7094692" cy="195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Relational DBMS (ORDBMS)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20253"/>
            <a:ext cx="12192000" cy="489284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 oriented programming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supports user-defined type, a class definition with a structure and method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DBMS supports queries and DBMS features.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ORDBMS present both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and full functionality of DBMS 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ORDBMS, and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with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data types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(complex data) and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spatial operations.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1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Data can be handled with: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with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 Spatial and Graph</a:t>
            </a:r>
          </a:p>
          <a:p>
            <a:pPr algn="l"/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MYSQL with Spatial extension          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with Spatial Data</a:t>
            </a:r>
          </a:p>
          <a:p>
            <a:pPr algn="l"/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MongoDB with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SpatialLite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(SQLite with spatial Extension)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most GIS and spatial data applications, PostgreSQL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best option due to its powerful features, community support and ability to handle complex spatial queries effectively</a:t>
            </a:r>
          </a:p>
        </p:txBody>
      </p:sp>
    </p:spTree>
    <p:extLst>
      <p:ext uri="{BB962C8B-B14F-4D97-AF65-F5344CB8AC3E}">
        <p14:creationId xmlns:p14="http://schemas.microsoft.com/office/powerpoint/2010/main" val="2592756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2580F-4949-DAB9-FB21-0E9A081DD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206" y="1478177"/>
            <a:ext cx="8683587" cy="45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8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312E5-BFEE-2383-6C0A-C9C364B58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531" y="1096781"/>
            <a:ext cx="7132938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3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LINESTRINGS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CE847-76E1-A272-DD9A-686D8108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87" y="1224140"/>
            <a:ext cx="6248225" cy="563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6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F2561-D342-8FAD-0ADE-9E6F4E78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916" y="1123164"/>
            <a:ext cx="5954167" cy="57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5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36B69-EEE5-1CF0-AC17-EE4C37B6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90" y="1068975"/>
            <a:ext cx="5940698" cy="578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4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b="1" dirty="0">
                <a:solidFill>
                  <a:srgbClr val="C00000"/>
                </a:solidFill>
              </a:rPr>
              <a:t>1. Basic Spatial Queries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Point-in-Polygon Query</a:t>
            </a:r>
            <a:r>
              <a:rPr lang="en-US" dirty="0"/>
              <a:t>: Checks if a point is within a polygon.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Within</a:t>
            </a:r>
            <a:r>
              <a:rPr lang="en-US" dirty="0"/>
              <a:t>: Determines if one geometry is within another.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Contains</a:t>
            </a:r>
            <a:r>
              <a:rPr lang="en-US" dirty="0"/>
              <a:t>: Checks if one geometry contains another.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Intersects</a:t>
            </a:r>
            <a:r>
              <a:rPr lang="en-US" dirty="0"/>
              <a:t>: Finds geometries that intersect with a given geometry.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Touches</a:t>
            </a:r>
            <a:r>
              <a:rPr lang="en-US" dirty="0"/>
              <a:t>: Determines if two geometries share a boundary point without overlapping.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Crosses</a:t>
            </a:r>
            <a:r>
              <a:rPr lang="en-US" dirty="0"/>
              <a:t>: Checks if geometries cross each other (e.g., lines crossing polygons).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Overlaps</a:t>
            </a:r>
            <a:r>
              <a:rPr lang="en-US" dirty="0"/>
              <a:t>: Checks if geometries overlap each other.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1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2. Distance and Proximity Queries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ST_Distance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Measures the minimum distance between two geometries.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ST_DWithin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Checks if two geometries are within a specified distance.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ST_Buffer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Creates a buffer around a geometry at a specified distance.</a:t>
            </a:r>
          </a:p>
          <a:p>
            <a:r>
              <a:rPr lang="en-US" b="1" dirty="0">
                <a:solidFill>
                  <a:srgbClr val="C00000"/>
                </a:solidFill>
              </a:rPr>
              <a:t>3. Spatial Joins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ST_Intersects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Used in a join to find geometries that intersect.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ST_Within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Join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Joins two tables where one geometry is within another.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ST_Contains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Join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Joins based on one geometry containing another.</a:t>
            </a:r>
          </a:p>
          <a:p>
            <a:r>
              <a:rPr lang="en-US" b="1" dirty="0">
                <a:solidFill>
                  <a:srgbClr val="C00000"/>
                </a:solidFill>
              </a:rPr>
              <a:t>4. Geometric Operations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ST_Union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Combines multiple geometries into one.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ST_Intersection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Finds the common area between geometries.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ST_Difference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Finds the area of one geometry that is not shared with another.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ST_SymDifference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Finds the symmetric difference between two geometries.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4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5. Measurement and Calculation Queries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ST_Area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Calculates the area of a polygon.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ST_Length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Computes the length of a line or perimeter of a polygon.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ST_Perimeter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Measures the perimeter of a polygon.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ST_Centroid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Finds the centroid (geometric center) of a geometry.</a:t>
            </a:r>
          </a:p>
          <a:p>
            <a:r>
              <a:rPr lang="en-US" b="1" dirty="0">
                <a:solidFill>
                  <a:srgbClr val="C00000"/>
                </a:solidFill>
              </a:rPr>
              <a:t>6. Modification and Transformation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ST_Translate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Moves a geometry by a specified distance.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ST_Rotate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Rotates a geometry around a point.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ST_Scale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Scales a geometry by a specified factor.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ST_Affine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Applies a matrix transformation to a geometry.</a:t>
            </a:r>
          </a:p>
          <a:p>
            <a:r>
              <a:rPr lang="en-US" b="1" dirty="0">
                <a:solidFill>
                  <a:srgbClr val="C00000"/>
                </a:solidFill>
              </a:rPr>
              <a:t>7. Topological Queries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ST_Relate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Tests for a specified spatial relationship between two geometries using DE-9IM (Dimensionally Extended 9-Intersection Model).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ST_Touches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dirty="0"/>
              <a:t> Tests if two geometries touch at the boundary but do not overlap.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39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22D5-8A17-5A38-4D07-4F2E80BC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48121"/>
            <a:ext cx="12192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3085-AC5F-BA2B-5609-8A46D6822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493"/>
            <a:ext cx="12192000" cy="489284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8. Raster Queries (specific to raster data)</a:t>
            </a:r>
          </a:p>
          <a:p>
            <a:pPr algn="l"/>
            <a:endParaRPr lang="en-US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ST_Value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Retrieves the value of a raster cell.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ST_AsRaster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Converts a geometry to raster format.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ST_Clip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Clips raster data to a specified geometry.</a:t>
            </a:r>
          </a:p>
          <a:p>
            <a:pPr algn="l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9. Indexing and Optimization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Spatial Index Queries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Using spatial indices (like R-trees) to optimize spatial queries.</a:t>
            </a:r>
          </a:p>
        </p:txBody>
      </p:sp>
    </p:spTree>
    <p:extLst>
      <p:ext uri="{BB962C8B-B14F-4D97-AF65-F5344CB8AC3E}">
        <p14:creationId xmlns:p14="http://schemas.microsoft.com/office/powerpoint/2010/main" val="1065688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C111E3-1EF8-32D3-108A-0DDD70104CEF}"/>
              </a:ext>
            </a:extLst>
          </p:cNvPr>
          <p:cNvSpPr txBox="1"/>
          <p:nvPr/>
        </p:nvSpPr>
        <p:spPr>
          <a:xfrm>
            <a:off x="1858296" y="2320413"/>
            <a:ext cx="9212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833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916</Words>
  <Application>Microsoft Office PowerPoint</Application>
  <PresentationFormat>Widescreen</PresentationFormat>
  <Paragraphs>176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Office Theme</vt:lpstr>
      <vt:lpstr>SPATIAL DBMS- Understanding</vt:lpstr>
      <vt:lpstr> RDBMS is Inefficient for spatial data</vt:lpstr>
      <vt:lpstr>DEALING WITH SPATIAL DATA</vt:lpstr>
      <vt:lpstr>DEALING WITH SPATIAL DATA</vt:lpstr>
      <vt:lpstr>Object Relational DBMS (ORDBMS)</vt:lpstr>
      <vt:lpstr>Spatial Data can be handled with:</vt:lpstr>
      <vt:lpstr>Spatial Data Types</vt:lpstr>
      <vt:lpstr>POINTS</vt:lpstr>
      <vt:lpstr>LINESTRINGS</vt:lpstr>
      <vt:lpstr>POLYGONS</vt:lpstr>
      <vt:lpstr>COLLECTION</vt:lpstr>
      <vt:lpstr>Spatial Queries</vt:lpstr>
      <vt:lpstr>Spatial Queries</vt:lpstr>
      <vt:lpstr>Spatial Queries</vt:lpstr>
      <vt:lpstr>Spatial Queries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Rishav Khatiwada</dc:creator>
  <cp:lastModifiedBy>Rishav Khatiwada</cp:lastModifiedBy>
  <cp:revision>7</cp:revision>
  <dcterms:created xsi:type="dcterms:W3CDTF">2024-09-06T08:13:38Z</dcterms:created>
  <dcterms:modified xsi:type="dcterms:W3CDTF">2024-09-08T02:41:43Z</dcterms:modified>
</cp:coreProperties>
</file>